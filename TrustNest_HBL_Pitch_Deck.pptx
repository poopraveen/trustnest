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6400800"/>
            <a:ext cx="1202436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16653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4114800"/>
            <a:ext cx="2011680" cy="2011680"/>
          </a:xfrm>
          <a:prstGeom prst="ellipse">
            <a:avLst/>
          </a:prstGeom>
          <a:solidFill>
            <a:srgbClr val="0D948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TrustNest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HBL Club Management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</a:rPr>
              <a:t>The All-In-One Digital Solution for Herbalife Nutrition Clubs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63440"/>
            <a:ext cx="2377440" cy="1188720"/>
          </a:xfrm>
          <a:prstGeom prst="rect">
            <a:avLst/>
          </a:prstGeom>
          <a:solidFill>
            <a:srgbClr val="1A2A3A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36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Members Managed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663440"/>
            <a:ext cx="2377440" cy="1188720"/>
          </a:xfrm>
          <a:prstGeom prst="rect">
            <a:avLst/>
          </a:prstGeom>
          <a:solidFill>
            <a:srgbClr val="1A2A3A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736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Retention 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4663440"/>
            <a:ext cx="2377440" cy="1188720"/>
          </a:xfrm>
          <a:prstGeom prst="rect">
            <a:avLst/>
          </a:prstGeom>
          <a:solidFill>
            <a:srgbClr val="1A2A3A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736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Paperless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663440"/>
            <a:ext cx="2377440" cy="1188720"/>
          </a:xfrm>
          <a:prstGeom prst="rect">
            <a:avLst/>
          </a:prstGeom>
          <a:solidFill>
            <a:srgbClr val="1A2A3A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47365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₹0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Setup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Confidential Pitch Deck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7315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39496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69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653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69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0698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5087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Why traditional club management fails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539496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069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6534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069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0698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5087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TrustNest — built for Herbalife clubs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539496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6534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7614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Key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00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Member portal, barcode, invoices &amp; more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39496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6534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7614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Multi-Branch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00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Run multiple clubs from one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43400"/>
            <a:ext cx="539496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453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6534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53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4531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Analytics &amp;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8920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Data-driven decisions for growth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343400"/>
            <a:ext cx="539496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453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6534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4531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4531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Getting Started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8920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Setup in under 10 minutes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CA5A5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Running a nutrition club today is harder than it should be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577840" cy="1417320"/>
          </a:xfrm>
          <a:prstGeom prst="rect">
            <a:avLst/>
          </a:prstGeom>
          <a:solidFill>
            <a:srgbClr val="1E1414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Paper 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92807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Members sign in on paper — data gets lost, no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417320"/>
          </a:xfrm>
          <a:prstGeom prst="rect">
            <a:avLst/>
          </a:prstGeom>
          <a:solidFill>
            <a:srgbClr val="1E1414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463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Manual 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92807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Handwritten bills, no GST invoice, no PDF download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26080"/>
            <a:ext cx="5577840" cy="1417320"/>
          </a:xfrm>
          <a:prstGeom prst="rect">
            <a:avLst/>
          </a:prstGeom>
          <a:solidFill>
            <a:srgbClr val="1E1414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No Digital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4930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Can't track who's active, who hasn't visited in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577840" cy="1417320"/>
          </a:xfrm>
          <a:prstGeom prst="rect">
            <a:avLst/>
          </a:prstGeom>
          <a:solidFill>
            <a:srgbClr val="1E1414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No Follow-Up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930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Members drop off silently — no alerts, no WhatsApp nudge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26280"/>
            <a:ext cx="5577840" cy="1417320"/>
          </a:xfrm>
          <a:prstGeom prst="rect">
            <a:avLst/>
          </a:prstGeom>
          <a:solidFill>
            <a:srgbClr val="1E1414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00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Single-Club 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0932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Running 2+ clubs? Zero visibility across branches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526280"/>
            <a:ext cx="5577840" cy="1417320"/>
          </a:xfrm>
          <a:prstGeom prst="rect">
            <a:avLst/>
          </a:prstGeom>
          <a:solidFill>
            <a:srgbClr val="1E1414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Blind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0932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No revenue reports, no low-stock alerts, no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TrustNest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F172A"/>
                </a:solidFill>
              </a:rPr>
              <a:t>One platform. Every club. Zero paperwork.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280160"/>
            <a:ext cx="4873752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5087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66534"/>
                </a:solidFill>
              </a:rPr>
              <a:t>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66534"/>
                </a:solidFill>
              </a:rPr>
              <a:t>TrustNest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88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</a:rPr>
              <a:t>HBL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280160"/>
            <a:ext cx="2011680" cy="1097280"/>
          </a:xfrm>
          <a:prstGeom prst="roundRect">
            <a:avLst>
              <a:gd name="adj" fmla="val 30000"/>
            </a:avLst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630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📱 Member
Portal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34640"/>
            <a:ext cx="2011680" cy="1097280"/>
          </a:xfrm>
          <a:prstGeom prst="roundRect">
            <a:avLst>
              <a:gd name="adj" fmla="val 30000"/>
            </a:avLst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🔍 Barcode
Check-In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389120"/>
            <a:ext cx="2011680" cy="1097280"/>
          </a:xfrm>
          <a:prstGeom prst="roundRect">
            <a:avLst>
              <a:gd name="adj" fmla="val 30000"/>
            </a:avLst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📄 Auto
Invoice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80160"/>
            <a:ext cx="2011680" cy="1097280"/>
          </a:xfrm>
          <a:prstGeom prst="roundRect">
            <a:avLst>
              <a:gd name="adj" fmla="val 30000"/>
            </a:avLst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4630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🏪 Multi
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34640"/>
            <a:ext cx="2011680" cy="1097280"/>
          </a:xfrm>
          <a:prstGeom prst="roundRect">
            <a:avLst>
              <a:gd name="adj" fmla="val 30000"/>
            </a:avLst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📊 Analytics
&amp;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4389120"/>
            <a:ext cx="2011680" cy="1097280"/>
          </a:xfrm>
          <a:prstGeom prst="roundRect">
            <a:avLst>
              <a:gd name="adj" fmla="val 30000"/>
            </a:avLst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💬 WhatsApp
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Member Portal  —  Features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Members download nothing. Just WhatsApp the link.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4447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80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Phone OTP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73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One-tap login with 6-digit OTP. No password. No app download.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70432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447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280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Digital Membership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73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QR code + barcode card with plan tier, points, expiry date.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96312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7706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06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Daily Check-In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992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Members check in themselves — earns 1 loyalty point per visit.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96312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7706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606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Shake &amp; Supplement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99923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Browse products, add to cart, choose pickup time, get PDF invoice.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22191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409651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931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Loyalty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251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Auto-earn: 1pt check-in, 1pt per ₹100 spent. 10pts = free shake.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22191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096511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9319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Order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32511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All past orders with PDF invoice download, inline view.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48072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54223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257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QR Auto-Login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6509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Scan club QR → instantly logged in + checked in. Zero friction.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148072"/>
            <a:ext cx="5577840" cy="1188720"/>
          </a:xfrm>
          <a:prstGeom prst="roundRect">
            <a:avLst>
              <a:gd name="adj" fmla="val 30000"/>
            </a:avLst>
          </a:prstGeom>
          <a:solidFill>
            <a:srgbClr val="F8FF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4223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257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Plan Tiers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6509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569"/>
                </a:solidFill>
              </a:rPr>
              <a:t>Basic / Silver / Gold / Platinum with colour-coded member cards.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Barcode &amp; QR Check-In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E6CA"/>
                </a:solidFill>
              </a:rPr>
              <a:t>Admin scans, system records — no pen, no paper, no mistakes.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394960" cy="5029200"/>
          </a:xfrm>
          <a:prstGeom prst="rect">
            <a:avLst/>
          </a:prstGeom>
          <a:solidFill>
            <a:srgbClr val="0D232E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👤  Member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Every member gets a unique card with: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▶  QR Code — deep-link login + auto check-in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▶  CODE-128 Barcode — for admin scanner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▶  Member code  e.g.  VPT-0001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▶  Plan badge, points, expiry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05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▶  Save / Share / Print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669280" cy="5029200"/>
          </a:xfrm>
          <a:prstGeom prst="rect">
            <a:avLst/>
          </a:prstGeom>
          <a:solidFill>
            <a:srgbClr val="0D232E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</a:rPr>
              <a:t>🔍  Admin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19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Admin opens Scanner on any phone/tablet: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488"/>
                </a:solidFill>
              </a:rPr>
              <a:t>  1.  Tap 'Start Scanner' — camera opens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78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488"/>
                </a:solidFill>
              </a:rPr>
              <a:t>  2.  Point at member's barcode or QR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5409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488"/>
                </a:solidFill>
              </a:rPr>
              <a:t>  3.  System identifies member instantly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958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488"/>
                </a:solidFill>
              </a:rPr>
              <a:t>  4.  Check-in recorded + 1 loyalty point awarded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050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9488"/>
                </a:solidFill>
              </a:rPr>
              <a:t>  5.  Member details shown on screen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80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       .  OR type member code manually as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Auto-Generated GST Tax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</a:rPr>
              <a:t>Professional PDF invoice — auto downloads right after checkout.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486400" cy="6858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Herbalife  TAX 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FFCC"/>
                </a:solidFill>
              </a:rPr>
              <a:t>Original for Recipient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548640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Club Name  |  GSTIN  |  FSSAI 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Invoice No:  INV-HBL-20260601-4231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Member: Ravi Kumar  |  Ph: 9876543210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07792"/>
            <a:ext cx="5486400" cy="3200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944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 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944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44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443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GST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55264"/>
            <a:ext cx="5486400" cy="338328"/>
          </a:xfrm>
          <a:prstGeom prst="rect">
            <a:avLst/>
          </a:prstGeom>
          <a:solidFill>
            <a:srgbClr val="F8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00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Formula 1 Shake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300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315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300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283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00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54864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6484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Afresh Lemon Tea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6484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165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6484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148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6484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50208"/>
            <a:ext cx="5486400" cy="338328"/>
          </a:xfrm>
          <a:prstGeom prst="rect">
            <a:avLst/>
          </a:prstGeom>
          <a:solidFill>
            <a:srgbClr val="F8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9959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Cell Activator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9959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221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9959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210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9959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297680"/>
            <a:ext cx="5486400" cy="411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435254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6534"/>
                </a:solidFill>
              </a:rPr>
              <a:t>Invoice Total: Rs. 641.00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352544"/>
            <a:ext cx="2926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Net Savings vs MRP: Rs. 60.00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7731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75569"/>
                </a:solidFill>
              </a:rPr>
              <a:t>Six Hundred Forty One Rupees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097280"/>
            <a:ext cx="566928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📄  What's Included in Every Invoice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Herbalife branding header (Green)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Club name, GSTIN, FSSAI number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551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Member details + shipping info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98094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SKU, MRP, Retail price, Discount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4107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Taxable value + SGST 2.5% + CGST 2.5%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84047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Invoice total in words (GST compliant)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2702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Volume Points for distributor tracking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7000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Authorised digital signatory block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12978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Auto-download on checkout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595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✅  Inline PDF view option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10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Admin Dashboard — Full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C55E"/>
                </a:solidFill>
              </a:rPr>
              <a:t>Everything you need to run the club, in one screen.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514600" cy="1325880"/>
          </a:xfrm>
          <a:prstGeom prst="rect">
            <a:avLst/>
          </a:prstGeom>
          <a:solidFill>
            <a:srgbClr val="12241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2C55E"/>
                </a:solidFill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Active
Members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143000"/>
            <a:ext cx="2514600" cy="1325880"/>
          </a:xfrm>
          <a:prstGeom prst="rect">
            <a:avLst/>
          </a:prstGeom>
          <a:solidFill>
            <a:srgbClr val="122418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0700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9488"/>
                </a:solidFill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Today's
Check-Ins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79" y="1143000"/>
            <a:ext cx="2514600" cy="1325880"/>
          </a:xfrm>
          <a:prstGeom prst="rect">
            <a:avLst/>
          </a:prstGeom>
          <a:solidFill>
            <a:srgbClr val="122418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120700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97706"/>
                </a:solidFill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Orders
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799" y="1143000"/>
            <a:ext cx="2514600" cy="1325880"/>
          </a:xfrm>
          <a:prstGeom prst="rect">
            <a:avLst/>
          </a:prstGeom>
          <a:solidFill>
            <a:srgbClr val="122418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79" y="120700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79" y="1828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Renewals
Due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2834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Add, search, filter, renew memberships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651760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2834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Barcode / QR check-in from any phone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2651760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8346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2788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New Joiners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Day counter, milestones, 30-day journey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31920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4114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Shake 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462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7-day activity grid, active vs. at-risk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931920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4114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Follow-Ups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4462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HIGH/MED/LOW priority WhatsApp outreach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3931920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41148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19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Products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19" y="4462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Stock levels, low-stock alerts, pricing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12079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539495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19" y="5349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Orders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19" y="574243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Live kitchen queue, status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212079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1" y="539495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349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574243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Revenue, popular products, retention charts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92440" y="5212079"/>
            <a:ext cx="3657600" cy="1143000"/>
          </a:xfrm>
          <a:prstGeom prst="rect">
            <a:avLst/>
          </a:prstGeom>
          <a:solidFill>
            <a:srgbClr val="0E1E14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031" y="539495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5349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Settings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19" y="5742431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2E8F0"/>
                </a:solidFill>
              </a:rPr>
              <a:t>Branch name, GSTIN, FSSAI, PIN change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62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Multi-Branch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629D8"/>
                </a:solidFill>
              </a:rPr>
              <a:t>Scale from 1 club to 50 clubs — same login, separate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8848" y="2651760"/>
            <a:ext cx="3200400" cy="1371600"/>
          </a:xfrm>
          <a:prstGeom prst="rect">
            <a:avLst/>
          </a:prstGeom>
          <a:solidFill>
            <a:srgbClr val="2D1B69"/>
          </a:solidFill>
          <a:ln w="12700">
            <a:solidFill>
              <a:srgbClr val="762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🌿 TrustNest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8848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4B5FD"/>
                </a:solidFill>
              </a:rPr>
              <a:t>Central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3200400" cy="1554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762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704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🏪 Veppampattu
Nutrition Club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470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PIN: 1234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6534"/>
                </a:solidFill>
              </a:rPr>
              <a:t>Isolated data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200400" cy="1554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762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0507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🏪 Chennai Central
Nutrition 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81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PIN: 5678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10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6534"/>
                </a:solidFill>
              </a:rPr>
              <a:t>Isolated data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005840"/>
            <a:ext cx="3200400" cy="1554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762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11704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🏪 Tambaram
Nutrition 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8470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PIN: 9012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176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6534"/>
                </a:solidFill>
              </a:rPr>
              <a:t>Isolated data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840480"/>
            <a:ext cx="3200400" cy="1554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762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400507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🏪 Coimbatore
Nutrition Club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681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PIN: 3456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010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6534"/>
                </a:solidFill>
              </a:rPr>
              <a:t>Isolated data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77840"/>
            <a:ext cx="11521440" cy="10058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650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Isolation Guarantees: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650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✦  Each branch has its own admin PIN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650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✦  Members, products, orders 100% isolated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565099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✦  Custom branch name on every invoice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6035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✦  Admin sees only their club's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6035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✦  Super-admin can view all branches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035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</a:rPr>
              <a:t>✦  Branch URL: /hbl?t=slug shared with members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Retention Engine — Never Lose a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97706"/>
                </a:solidFill>
              </a:rPr>
              <a:t>Automated follow-up intelligence powered by real visit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5074920"/>
          </a:xfrm>
          <a:prstGeom prst="rect">
            <a:avLst/>
          </a:prstGeom>
          <a:solidFill>
            <a:srgbClr val="FFE4E6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HIGH Priority 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19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Triggers: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No check-in for 7+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Membership expires in ≤2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9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Member never visited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WhatsApp Template:
"Hi [Name]! We miss you at the club.
Your membership expires soon — let's
renew and get back on track! 💚"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📲 One-tap WA send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143000"/>
            <a:ext cx="3657600" cy="507492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MEDIUM Priority 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19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Triggers: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No check-in 3–7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95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Expiry in 3–7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79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Day 3 / 7 milestone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246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WhatsApp Template:
"Hi [Name]! Your consistency is key.
Come in today for your nutrition shake
and earn loyalty points! ⭐"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8064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📲 One-tap WA send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143000"/>
            <a:ext cx="3657600" cy="5074920"/>
          </a:xfrm>
          <a:prstGeom prst="rect">
            <a:avLst/>
          </a:prstGeom>
          <a:solidFill>
            <a:srgbClr val="F0FDF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LOW Priority 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1719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Triggers: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0116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No order in 14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3957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New joiner day 14 /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779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  • Occasional visitor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2461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75569"/>
                </a:solidFill>
              </a:rPr>
              <a:t>WhatsApp Template:
"Hi [Name]! Did you know our Formula 1
Shake helps with your goal? Order now
and we'll have it ready! 🥤"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58064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6534"/>
                </a:solidFill>
              </a:rPr>
              <a:t>📲 One-tap WA send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Analytics &amp; Revenue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9488"/>
                </a:solidFill>
              </a:rPr>
              <a:t>Know your numbers. Grow with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00" cy="3840480"/>
          </a:xfrm>
          <a:prstGeom prst="rect">
            <a:avLst/>
          </a:prstGeom>
          <a:solidFill>
            <a:srgbClr val="0D1E2A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</a:rPr>
              <a:t>Daily Revenue (Rs.) — This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32004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1832" y="3657600"/>
            <a:ext cx="32004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5024" y="3291840"/>
            <a:ext cx="320040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28216" y="3779520"/>
            <a:ext cx="320040" cy="975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21408" y="2865120"/>
            <a:ext cx="320040" cy="1889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3108960"/>
            <a:ext cx="320040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07792" y="2438400"/>
            <a:ext cx="320040" cy="2316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3413760"/>
            <a:ext cx="320040" cy="1341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4176" y="2255520"/>
            <a:ext cx="320040" cy="2499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2621280"/>
            <a:ext cx="320040" cy="2133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2987040"/>
            <a:ext cx="320040" cy="1767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73752" y="1828800"/>
            <a:ext cx="320040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66944" y="2804160"/>
            <a:ext cx="320040" cy="1950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0136" y="2011680"/>
            <a:ext cx="320040" cy="2743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43000"/>
            <a:ext cx="5623560" cy="3840480"/>
          </a:xfrm>
          <a:prstGeom prst="rect">
            <a:avLst/>
          </a:prstGeom>
          <a:solidFill>
            <a:srgbClr val="0D1E2A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📊  Key Metrics This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Rs. 48,600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Total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691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Total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97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Retention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697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9488"/>
                </a:solidFill>
              </a:rPr>
              <a:t>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New Members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Formula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Top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Gold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Top Plan Tier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12080"/>
            <a:ext cx="11475720" cy="1005840"/>
          </a:xfrm>
          <a:prstGeom prst="rect">
            <a:avLst/>
          </a:prstGeom>
          <a:solidFill>
            <a:srgbClr val="0D2018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76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Report Views Available: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27608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✦  Week / Month / Year range selector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27608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✦  Daily revenue bar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7608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✦  Popular products ranking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19" y="527608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✦  Member retention donut chart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27608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✦  New joiner growth trend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Shake Tracker &amp; New Joiner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</a:rPr>
              <a:t>Track every member's progress — from day 1 to day 30.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394960" cy="5120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🥤  Shake Tracker  —  7-Day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792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Tue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6584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Thu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Fri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Sat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459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75569"/>
                </a:solidFill>
              </a:rPr>
              <a:t>Sun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Ravi Kumar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6584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19659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6974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Priya 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6584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8376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26517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3832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8080"/>
                </a:solidFill>
              </a:rPr>
              <a:t>Karthik 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4792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6584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3752" y="33375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069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6534"/>
                </a:solidFill>
              </a:rPr>
              <a:t>Meena 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86584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08376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402336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1097280"/>
            <a:ext cx="5669280" cy="51206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🆕  30-Day Journey Milestones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1691640"/>
            <a:ext cx="5303520" cy="594360"/>
          </a:xfrm>
          <a:prstGeom prst="rect">
            <a:avLst/>
          </a:prstGeom>
          <a:solidFill>
            <a:srgbClr val="F8FFFA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178308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1764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Day 1: Joined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20391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Welcome WhatsApp sent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2395728"/>
            <a:ext cx="5303520" cy="594360"/>
          </a:xfrm>
          <a:prstGeom prst="rect">
            <a:avLst/>
          </a:prstGeom>
          <a:solidFill>
            <a:srgbClr val="F8FFFA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3952" y="24871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Day 3: First shake check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2743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Engagement follow-up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3099816"/>
            <a:ext cx="5303520" cy="594360"/>
          </a:xfrm>
          <a:prstGeom prst="rect">
            <a:avLst/>
          </a:prstGeom>
          <a:solidFill>
            <a:srgbClr val="F8FFFA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73952" y="31912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3172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Day 7: One week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34472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7-day streak badge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3803904"/>
            <a:ext cx="5303520" cy="594360"/>
          </a:xfrm>
          <a:prstGeom prst="rect">
            <a:avLst/>
          </a:prstGeom>
          <a:solidFill>
            <a:srgbClr val="F8FFFA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38953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0880" y="38770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Day 14: 2-week milestone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0" y="415137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Progress check-in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55080" y="4507992"/>
            <a:ext cx="5303520" cy="594360"/>
          </a:xfrm>
          <a:prstGeom prst="rect">
            <a:avLst/>
          </a:prstGeom>
          <a:solidFill>
            <a:srgbClr val="F8FFFA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73952" y="4599431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4581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Day 21: Habit forming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48554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Consistency badge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5080" y="5212080"/>
            <a:ext cx="5303520" cy="594360"/>
          </a:xfrm>
          <a:prstGeom prst="rect">
            <a:avLst/>
          </a:prstGeom>
          <a:solidFill>
            <a:srgbClr val="F8FFFA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73952" y="53035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</a:rPr>
              <a:t>💎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5285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Day 30: 30-day champion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5559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</a:rPr>
              <a:t>Platinum loyalty gift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How It Works — From Setup to 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C55E"/>
                </a:solidFill>
              </a:rPr>
              <a:t>Your club goes digital in under 10 minutes.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1783080" cy="2286000"/>
          </a:xfrm>
          <a:prstGeom prst="rect">
            <a:avLst/>
          </a:prstGeom>
          <a:solidFill>
            <a:srgbClr val="0E22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105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402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 Setup
(10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889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2E8F0"/>
                </a:solidFill>
              </a:rPr>
              <a:t>POST /api/setup with club name,
GSTIN, FSSAI, admin 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2" y="1143000"/>
            <a:ext cx="1783080" cy="2286000"/>
          </a:xfrm>
          <a:prstGeom prst="rect">
            <a:avLst/>
          </a:prstGeom>
          <a:solidFill>
            <a:srgbClr val="0E22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18105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2402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Add Members
(30 sec each)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7889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2E8F0"/>
                </a:solidFill>
              </a:rPr>
              <a:t>Name + Phone → system generates
QR + barcode member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1" y="2971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4" y="1143000"/>
            <a:ext cx="1783080" cy="2286000"/>
          </a:xfrm>
          <a:prstGeom prst="rect">
            <a:avLst/>
          </a:prstGeom>
          <a:solidFill>
            <a:srgbClr val="0E22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5464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18105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2402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Load Products
(1 click)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27889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2E8F0"/>
                </a:solidFill>
              </a:rPr>
              <a:t>12 default Herbalife products
with SKU, MRP, pricing — instant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4184" y="2971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1143000"/>
            <a:ext cx="1783080" cy="2286000"/>
          </a:xfrm>
          <a:prstGeom prst="rect">
            <a:avLst/>
          </a:prstGeom>
          <a:solidFill>
            <a:srgbClr val="0E22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856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18105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2402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Daily Check-In
(2 sec)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27889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2E8F0"/>
                </a:solidFill>
              </a:rPr>
              <a:t>Admin scans barcode OR
member self-checks via QR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2971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02168" y="1143000"/>
            <a:ext cx="1783080" cy="2286000"/>
          </a:xfrm>
          <a:prstGeom prst="rect">
            <a:avLst/>
          </a:prstGeom>
          <a:solidFill>
            <a:srgbClr val="0E22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42248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18105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2402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Member Orders
(1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7889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2E8F0"/>
                </a:solidFill>
              </a:rPr>
              <a:t>Browse → cart → checkout →
PDF invoice auto-downloads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29718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60" y="1143000"/>
            <a:ext cx="1783080" cy="2286000"/>
          </a:xfrm>
          <a:prstGeom prst="rect">
            <a:avLst/>
          </a:prstGeom>
          <a:solidFill>
            <a:srgbClr val="0E22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5640" y="1261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1810512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2402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 Reviews
(5 min/day)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7889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E2E8F0"/>
                </a:solidFill>
              </a:rPr>
              <a:t>Dashboard KPIs, follow-up list,
WhatsApp alerts with 1 tap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657600"/>
            <a:ext cx="11521440" cy="2697480"/>
          </a:xfrm>
          <a:prstGeom prst="rect">
            <a:avLst/>
          </a:prstGeom>
          <a:solidFill>
            <a:srgbClr val="0A1810"/>
          </a:solidFill>
          <a:ln w="381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7673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Member Journey: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Gets club 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2E8F0"/>
                </a:solidFill>
              </a:rPr>
              <a:t>/hbl?t=veppampattu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25196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50592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512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Enters phone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3512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2E8F0"/>
                </a:solidFill>
              </a:rPr>
              <a:t>OTP sent instantly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425196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2544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55464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Sees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55464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2E8F0"/>
                </a:solidFill>
              </a:rPr>
              <a:t>Card, points, QR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1344" y="425196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54496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7416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Places order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7416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2E8F0"/>
                </a:solidFill>
              </a:rPr>
              <a:t>PDF invoice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83296" y="425196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8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59368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Shows QR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59368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2E8F0"/>
                </a:solidFill>
              </a:rPr>
              <a:t>Admin scans, checked 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425196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Gets WA nudge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4498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2E8F0"/>
                </a:solidFill>
              </a:rPr>
              <a:t>On milestones &amp; expiry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Why TrustNest?  —  vs. The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172A"/>
                </a:solidFill>
              </a:rPr>
              <a:t>Purpose-built for Herbalife clubs. Nothing else comes close.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0241280" cy="5029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161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216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Paper /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59" y="1216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Generic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🌿 TrustNest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1024128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73736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GST Tax Invoice (PDF)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73736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173736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73736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03120"/>
            <a:ext cx="10241280" cy="420624"/>
          </a:xfrm>
          <a:prstGeom prst="rect">
            <a:avLst/>
          </a:prstGeom>
          <a:solidFill>
            <a:srgbClr val="F8FFFA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17627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QR + Barcode 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17627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59" y="217627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17627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42032"/>
            <a:ext cx="1024128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61518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Multi-Branch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61518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261518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💰 Extra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2615184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80944"/>
            <a:ext cx="10241280" cy="420624"/>
          </a:xfrm>
          <a:prstGeom prst="rect">
            <a:avLst/>
          </a:prstGeom>
          <a:solidFill>
            <a:srgbClr val="F8FFFA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05409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WhatsApp Follow-Up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05409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59" y="305409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54096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19856"/>
            <a:ext cx="1024128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4930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Loyalty Points + Rewards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49300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59" y="349300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49300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858768"/>
            <a:ext cx="10241280" cy="420624"/>
          </a:xfrm>
          <a:prstGeom prst="rect">
            <a:avLst/>
          </a:prstGeom>
          <a:solidFill>
            <a:srgbClr val="F8FFFA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393192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Herbalife SKU Catalog Built-In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393192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59" y="3931920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93192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297680"/>
            <a:ext cx="1024128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370832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Shake / Activity Tracker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37083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59" y="437083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37083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736592"/>
            <a:ext cx="10241280" cy="420624"/>
          </a:xfrm>
          <a:prstGeom prst="rect">
            <a:avLst/>
          </a:prstGeom>
          <a:solidFill>
            <a:srgbClr val="F8FFFA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4809744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New Joiner Journey (30 days)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480974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4809744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809744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175504"/>
            <a:ext cx="10241280" cy="42062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79" y="5248656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Mobile-First, No App Install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37560" y="524865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59" y="5248656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5248656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614416"/>
            <a:ext cx="10241280" cy="420624"/>
          </a:xfrm>
          <a:prstGeom prst="rect">
            <a:avLst/>
          </a:prstGeom>
          <a:solidFill>
            <a:srgbClr val="F8FFFA"/>
          </a:solidFill>
          <a:ln w="25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79" y="568756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</a:rPr>
              <a:t>Monthly Cost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37560" y="568756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₹0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568756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₹2,000–5,000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68756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66534"/>
                </a:solidFill>
              </a:rPr>
              <a:t>Ask 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2C55E"/>
                </a:solidFill>
              </a:rPr>
              <a:t>Your club can be live today — here's exactly what to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176272"/>
          </a:xfrm>
          <a:prstGeom prst="rect">
            <a:avLst/>
          </a:prstGeom>
          <a:solidFill>
            <a:srgbClr val="0E2818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80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459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Share your club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488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Name, Address, GSTIN, FSSAI, Phone number
Admin PIN of your choice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2176272"/>
          </a:xfrm>
          <a:prstGeom prst="rect">
            <a:avLst/>
          </a:prstGeom>
          <a:solidFill>
            <a:srgbClr val="0E241A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280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6459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We create your branch in 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1488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Unique branch URL:  trustnest.com/hbl?t=yourclub
All 12 default products pre-loaded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577840" cy="2176272"/>
          </a:xfrm>
          <a:prstGeom prst="rect">
            <a:avLst/>
          </a:prstGeom>
          <a:solidFill>
            <a:srgbClr val="0A2014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233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Add your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262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Name + phone per member
Barcode + QR card auto-generated for 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577840" cy="2176272"/>
          </a:xfrm>
          <a:prstGeom prst="rect">
            <a:avLst/>
          </a:prstGeom>
          <a:solidFill>
            <a:srgbClr val="081E12"/>
          </a:solidFill>
          <a:ln w="63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657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0233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Share the link with members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5262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2E8F0"/>
                </a:solidFill>
              </a:rPr>
              <a:t>WhatsApp the URL — members log in instantly
No app install, no training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75569"/>
                </a:solidFill>
              </a:rPr>
              <a:t>TrustNest HBL  •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6653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3200400"/>
            <a:ext cx="4572000" cy="4572000"/>
          </a:xfrm>
          <a:prstGeom prst="ellipse">
            <a:avLst/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640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C55E"/>
                </a:solidFill>
              </a:rPr>
              <a:t>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Ready to Transform Your Club?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22C55E"/>
                </a:solidFill>
              </a:rPr>
              <a:t>TrustNest HBL is live. Your branch can be set up today.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337560"/>
            <a:ext cx="2926080" cy="1508760"/>
          </a:xfrm>
          <a:prstGeom prst="rect">
            <a:avLst/>
          </a:prstGeom>
          <a:solidFill>
            <a:srgbClr val="0E221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4564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93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Visit the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C55E"/>
                </a:solidFill>
              </a:rPr>
              <a:t>trustnest-tsgz.vercel.app/hbl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3337560"/>
            <a:ext cx="2926080" cy="1508760"/>
          </a:xfrm>
          <a:prstGeom prst="rect">
            <a:avLst/>
          </a:prstGeom>
          <a:solidFill>
            <a:srgbClr val="0E221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4564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493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WhatsApp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C55E"/>
                </a:solidFill>
              </a:rPr>
              <a:t>wa.me/91XXXXXXXXXX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337560"/>
            <a:ext cx="2926080" cy="1508760"/>
          </a:xfrm>
          <a:prstGeom prst="rect">
            <a:avLst/>
          </a:prstGeom>
          <a:solidFill>
            <a:srgbClr val="0E2218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4564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493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C55E"/>
                </a:solidFill>
              </a:rPr>
              <a:t>hello@trustnest.in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074920"/>
            <a:ext cx="7616952" cy="7772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"The club that tracks, grows.  The club that ignores, loses."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TrustNest  •  Built for India's Herbalife Clubs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